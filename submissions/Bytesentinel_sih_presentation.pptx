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04B95A-8907-46D7-946A-C4B7BC3B76F9}" v="1" dt="2026-09-09T11:10:27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773" y="2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D1FCD4-5231-4F58-8EE5-441DFF52AD03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7519C1-53B9-41F7-8E41-C814180A4C61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8417CB-C77C-49C4-8856-FDC0015EF1C6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D71537-9F39-4486-B326-EFAC27D412C2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C833D2-7B6E-4841-BF85-689154EF133F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7FCB7C-5157-4072-A3B3-E465500CFE69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15660A-8650-4ECC-B898-0C0E4A529B5F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796C4D-6513-4F70-98EB-454FF7DC6981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D73D70-5FCC-4778-BB64-59501A85A291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5CEC8B-8137-417C-ADC3-4B94FB3EF33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F4DDE9-118A-40BA-AE7F-984727A8CAE5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2D0DBF98-C247-4B30-BF1F-7E0C4C234375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cao.int/publications/Documents/9303_p4_cons_en.pdf?__cf_chl_tk=iyVsRiXF3GNd2Sfu2DhXKZdcy0L6CFDDnVz4XuldgZ0-1788951093-1.0.1.1-W3mUQPj1Py5_EIL9yj2ihZVWK_PyGuqaQzCBCJ11wYI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digilocker.gov.in/web/statistic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rdorintelligence.com/industry-reports/identity-verification-market" TargetMode="External"/><Relationship Id="rId5" Type="http://schemas.openxmlformats.org/officeDocument/2006/relationships/hyperlink" Target="https://www.researchandmarkets.com/reports/5971053/document-verification-market-report" TargetMode="External"/><Relationship Id="rId10" Type="http://schemas.openxmlformats.org/officeDocument/2006/relationships/hyperlink" Target="https://prd.frontex.europa.eu/wp-content/uploads/2024.03.05_an-integrated-approach-to-combat-document-and-identity-fraud-1.pdf" TargetMode="External"/><Relationship Id="rId4" Type="http://schemas.openxmlformats.org/officeDocument/2006/relationships/hyperlink" Target="https://www.entrust.com/resources/reports/identity-fraud-report" TargetMode="External"/><Relationship Id="rId9" Type="http://schemas.openxmlformats.org/officeDocument/2006/relationships/hyperlink" Target="https://www.nist.gov/publications/considerations-implementing-morph-detection-oper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339579" y="1782389"/>
            <a:ext cx="1941467" cy="2076450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&amp; PROBLEM STATEMENTS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79209" y="3900435"/>
            <a:ext cx="1177572" cy="716350"/>
          </a:xfrm>
          <a:prstGeom prst="rect">
            <a:avLst/>
          </a:prstGeom>
          <a:noFill/>
        </p:spPr>
        <p:txBody>
          <a:bodyPr wrap="square" spcCol="180000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087860-F79E-DEA2-F6DC-58F1A350F048}"/>
              </a:ext>
            </a:extLst>
          </p:cNvPr>
          <p:cNvSpPr txBox="1"/>
          <p:nvPr/>
        </p:nvSpPr>
        <p:spPr>
          <a:xfrm>
            <a:off x="331286" y="3007318"/>
            <a:ext cx="9500478" cy="302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Problem Statement ID : </a:t>
            </a:r>
            <a:r>
              <a:rPr lang="en-US" sz="2800" b="1" dirty="0">
                <a:solidFill>
                  <a:schemeClr val="accent2"/>
                </a:solidFill>
              </a:rPr>
              <a:t>26188</a:t>
            </a:r>
          </a:p>
          <a:p>
            <a:pPr marL="342900" indent="-342900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800" b="1" dirty="0"/>
              <a:t>Problem  Statement Title :</a:t>
            </a:r>
          </a:p>
          <a:p>
            <a:r>
              <a:rPr lang="en-US" sz="2800" dirty="0"/>
              <a:t>   </a:t>
            </a:r>
            <a:r>
              <a:rPr lang="en-US" sz="2800" b="1" dirty="0">
                <a:solidFill>
                  <a:schemeClr val="accent2"/>
                </a:solidFill>
              </a:rPr>
              <a:t>AI-Based Fake Identity &amp; Document Screening System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Theme :</a:t>
            </a:r>
            <a:r>
              <a:rPr lang="en-US" sz="2800" b="1" dirty="0">
                <a:solidFill>
                  <a:schemeClr val="accent2"/>
                </a:solidFill>
              </a:rPr>
              <a:t>Blockchain &amp; Cybersecurity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PS Category : </a:t>
            </a:r>
            <a:r>
              <a:rPr lang="en-US" sz="2800" b="1" dirty="0">
                <a:solidFill>
                  <a:schemeClr val="accent2"/>
                </a:solidFill>
              </a:rPr>
              <a:t>Software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Team ID 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Team Name: </a:t>
            </a:r>
            <a:r>
              <a:rPr lang="en-US" sz="2800" b="1" dirty="0">
                <a:solidFill>
                  <a:schemeClr val="accent2"/>
                </a:solidFill>
              </a:rPr>
              <a:t>BYTESENTINEL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A627E7-8789-8776-9DB5-613EF2922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3661" y="1344441"/>
            <a:ext cx="2418848" cy="2418848"/>
          </a:xfrm>
          <a:prstGeom prst="rect">
            <a:avLst/>
          </a:prstGeom>
        </p:spPr>
      </p:pic>
      <p:pic>
        <p:nvPicPr>
          <p:cNvPr id="7" name="Picture 6" descr="Fake Document stock vector. Illustration of businessman - 404506795">
            <a:extLst>
              <a:ext uri="{FF2B5EF4-FFF2-40B4-BE49-F238E27FC236}">
                <a16:creationId xmlns:a16="http://schemas.microsoft.com/office/drawing/2014/main" id="{6B91068D-5960-11CB-14AC-27EE3CD92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265" y="3587186"/>
            <a:ext cx="3412239" cy="2556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C5D589-83DC-25BD-143E-4D602E749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2" y="3267183"/>
            <a:ext cx="11988918" cy="376285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25F9CB-616B-E132-1794-6FC839D2514F}"/>
              </a:ext>
            </a:extLst>
          </p:cNvPr>
          <p:cNvSpPr/>
          <p:nvPr/>
        </p:nvSpPr>
        <p:spPr>
          <a:xfrm>
            <a:off x="78050" y="839950"/>
            <a:ext cx="7879484" cy="303101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943897"/>
            <a:ext cx="10972800" cy="1868129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IDEA /APPROACH DETAILS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8050" y="53798"/>
            <a:ext cx="2579416" cy="72065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gency FB" panose="020B0503020202020204" pitchFamily="34" charset="0"/>
                <a:cs typeface="Times New Roman" panose="02020603050405020304" pitchFamily="18" charset="0"/>
              </a:rPr>
              <a:t>BYTESENTINEL</a:t>
            </a:r>
            <a:endParaRPr lang="en-IN" sz="2400" b="1" dirty="0"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31101"/>
            <a:ext cx="2249850" cy="890451"/>
          </a:xfrm>
          <a:prstGeom prst="rect">
            <a:avLst/>
          </a:prstGeom>
        </p:spPr>
      </p:pic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40112" y="774449"/>
            <a:ext cx="7742284" cy="3339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tx2"/>
                </a:solidFill>
                <a:latin typeface="Georgia" panose="02040502050405020303" pitchFamily="18" charset="0"/>
                <a:cs typeface="Arial" pitchFamily="34" charset="0"/>
              </a:rPr>
              <a:t> </a:t>
            </a:r>
            <a:r>
              <a:rPr lang="en-US" sz="4000" b="1" u="sng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r>
              <a:rPr lang="en-US" sz="2000" dirty="0"/>
              <a:t> </a:t>
            </a:r>
            <a:r>
              <a:rPr lang="en-IN" sz="2100" b="1" dirty="0"/>
              <a:t>Unified AI-powered screening platform</a:t>
            </a:r>
            <a:r>
              <a:rPr lang="en-IN" sz="2100" dirty="0"/>
              <a:t> that automates identity document verification in real time</a:t>
            </a:r>
            <a:r>
              <a:rPr lang="en-US" sz="2100" dirty="0"/>
              <a:t>. </a:t>
            </a:r>
          </a:p>
          <a:p>
            <a:endParaRPr lang="en-US" sz="2100" dirty="0"/>
          </a:p>
          <a:p>
            <a:pPr lvl="0"/>
            <a:r>
              <a:rPr lang="en-IN" dirty="0"/>
              <a:t>❖ </a:t>
            </a:r>
            <a:r>
              <a:rPr lang="en-IN" b="1" dirty="0"/>
              <a:t>OCR + MRZ triggered</a:t>
            </a:r>
            <a:r>
              <a:rPr lang="en-IN" dirty="0"/>
              <a:t> automatic data extraction from passports, visas &amp; IDs.</a:t>
            </a:r>
          </a:p>
          <a:p>
            <a:pPr lvl="0"/>
            <a:r>
              <a:rPr lang="en-IN" dirty="0"/>
              <a:t>❖ Checksum-based  </a:t>
            </a:r>
            <a:r>
              <a:rPr lang="en-IN" b="1" dirty="0"/>
              <a:t>document validation engine.</a:t>
            </a:r>
            <a:endParaRPr lang="en-IN" dirty="0"/>
          </a:p>
          <a:p>
            <a:pPr lvl="0"/>
            <a:r>
              <a:rPr lang="en-IN" dirty="0"/>
              <a:t>❖ Error Level Analysis (ELA) and metadata scan to </a:t>
            </a:r>
            <a:r>
              <a:rPr lang="en-IN" b="1" dirty="0"/>
              <a:t>detect tampering &amp; forgery</a:t>
            </a:r>
            <a:endParaRPr lang="en-IN" dirty="0"/>
          </a:p>
          <a:p>
            <a:pPr lvl="0"/>
            <a:r>
              <a:rPr lang="en-IN" dirty="0"/>
              <a:t>❖ Biometric </a:t>
            </a:r>
            <a:r>
              <a:rPr lang="en-IN" b="1" dirty="0"/>
              <a:t>face verification</a:t>
            </a:r>
            <a:r>
              <a:rPr lang="en-IN" dirty="0"/>
              <a:t> to match person with document photo.</a:t>
            </a:r>
          </a:p>
          <a:p>
            <a:pPr lvl="0"/>
            <a:r>
              <a:rPr lang="en-IN" dirty="0"/>
              <a:t>❖Explainable </a:t>
            </a:r>
            <a:r>
              <a:rPr lang="en-IN" b="1" dirty="0"/>
              <a:t>risk score</a:t>
            </a:r>
            <a:r>
              <a:rPr lang="en-IN" dirty="0"/>
              <a:t> to supports the final decision.</a:t>
            </a:r>
          </a:p>
          <a:p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6C2B02-7CF2-4395-7891-41D6EDB1A6BF}"/>
              </a:ext>
            </a:extLst>
          </p:cNvPr>
          <p:cNvSpPr/>
          <p:nvPr/>
        </p:nvSpPr>
        <p:spPr>
          <a:xfrm>
            <a:off x="8220972" y="905826"/>
            <a:ext cx="3937240" cy="338353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F86E7-639D-F88E-EE26-6E9245698240}"/>
              </a:ext>
            </a:extLst>
          </p:cNvPr>
          <p:cNvSpPr txBox="1"/>
          <p:nvPr/>
        </p:nvSpPr>
        <p:spPr>
          <a:xfrm>
            <a:off x="8344094" y="1008056"/>
            <a:ext cx="376985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UNIQUENESS DIFFERENTIATOR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Explainable risk scoring </a:t>
            </a:r>
            <a:r>
              <a:rPr lang="en-IN" dirty="0"/>
              <a:t>to tell why the document</a:t>
            </a:r>
            <a:r>
              <a:rPr lang="en-IN" b="1" dirty="0"/>
              <a:t> </a:t>
            </a:r>
            <a:r>
              <a:rPr lang="en-IN" dirty="0"/>
              <a:t>is flagged.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Multi-layer verification</a:t>
            </a:r>
            <a:r>
              <a:rPr lang="en-IN" dirty="0"/>
              <a:t> — OCR + forensics + biometrics + rules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Verification </a:t>
            </a:r>
            <a:r>
              <a:rPr lang="en-IN" dirty="0"/>
              <a:t>done </a:t>
            </a:r>
            <a:r>
              <a:rPr lang="en-IN" b="1" dirty="0"/>
              <a:t>within seconds</a:t>
            </a:r>
            <a:r>
              <a:rPr lang="en-IN" dirty="0"/>
              <a:t>.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Create a </a:t>
            </a:r>
            <a:r>
              <a:rPr lang="en-IN" b="1" dirty="0"/>
              <a:t>Digital auto trial </a:t>
            </a:r>
            <a:r>
              <a:rPr lang="en-IN" dirty="0"/>
              <a:t>for further investigation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Cross document verification </a:t>
            </a:r>
            <a:r>
              <a:rPr lang="en-IN" dirty="0"/>
              <a:t>for lesser risks.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2C7577-A4EC-0902-9EFF-CCB17F742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62" y="6358939"/>
            <a:ext cx="12238862" cy="50164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826" y="72626"/>
            <a:ext cx="25170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gency FB" panose="020B0503020202020204" pitchFamily="34" charset="0"/>
              </a:rPr>
              <a:t>BYTESENTINEL</a:t>
            </a:r>
            <a:endParaRPr lang="en-IN" sz="2400" b="1" dirty="0">
              <a:latin typeface="Agency FB" panose="020B0503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7000FE-2698-DF09-4948-69B84650CBC9}"/>
              </a:ext>
            </a:extLst>
          </p:cNvPr>
          <p:cNvSpPr txBox="1"/>
          <p:nvPr/>
        </p:nvSpPr>
        <p:spPr>
          <a:xfrm>
            <a:off x="162064" y="879960"/>
            <a:ext cx="59339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Bauhaus 93" panose="04030905020B02020C02" pitchFamily="82" charset="0"/>
              </a:rPr>
              <a:t>Technology Stack:</a:t>
            </a:r>
            <a:endParaRPr lang="en-IN" sz="2000" dirty="0">
              <a:latin typeface="Bauhaus 93" panose="04030905020B02020C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Backend &amp; API:</a:t>
            </a:r>
            <a:br>
              <a:rPr lang="en-IN" sz="2000" dirty="0"/>
            </a:br>
            <a:r>
              <a:rPr lang="en-IN" sz="2000" dirty="0"/>
              <a:t>Python 3.12 + Flask 3 + </a:t>
            </a:r>
            <a:r>
              <a:rPr lang="en-IN" sz="2000" dirty="0" err="1"/>
              <a:t>SQLAlchemy</a:t>
            </a:r>
            <a:r>
              <a:rPr lang="en-IN" sz="2000" dirty="0"/>
              <a:t> — REST API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Document Data Extraction:</a:t>
            </a:r>
            <a:br>
              <a:rPr lang="en-IN" sz="2000" dirty="0"/>
            </a:br>
            <a:r>
              <a:rPr lang="en-IN" sz="2000" dirty="0" err="1"/>
              <a:t>PaddleOCR</a:t>
            </a:r>
            <a:r>
              <a:rPr lang="en-IN" sz="2000" dirty="0"/>
              <a:t> (PP-OCRv5) + </a:t>
            </a:r>
            <a:r>
              <a:rPr lang="en-IN" sz="2000" dirty="0" err="1"/>
              <a:t>mrzscanner</a:t>
            </a:r>
            <a:r>
              <a:rPr lang="en-IN" sz="2000" dirty="0"/>
              <a:t> — MRZ + OCR + Tesseract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Deterministic Validation:</a:t>
            </a:r>
            <a:br>
              <a:rPr lang="en-IN" sz="2000" dirty="0"/>
            </a:br>
            <a:r>
              <a:rPr lang="en-IN" sz="2000" dirty="0"/>
              <a:t>ICAO 9303 check digits + Verhoeff checksum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Biometric Verification:</a:t>
            </a:r>
            <a:br>
              <a:rPr lang="en-IN" sz="2000" dirty="0"/>
            </a:br>
            <a:r>
              <a:rPr lang="en-IN" sz="2000" dirty="0" err="1"/>
              <a:t>InsightFace</a:t>
            </a:r>
            <a:r>
              <a:rPr lang="en-IN" sz="2000" dirty="0"/>
              <a:t> (</a:t>
            </a:r>
            <a:r>
              <a:rPr lang="en-IN" sz="2000" dirty="0" err="1"/>
              <a:t>buffalo_l</a:t>
            </a:r>
            <a:r>
              <a:rPr lang="en-IN" sz="2000" dirty="0"/>
              <a:t>) on ONNX Runtime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Console, Data &amp; Risk Engine:</a:t>
            </a:r>
            <a:br>
              <a:rPr lang="en-IN" sz="2000" dirty="0"/>
            </a:br>
            <a:r>
              <a:rPr lang="en-IN" sz="2000" dirty="0"/>
              <a:t>React 19 + Vite + Tailwind; Next.js 16 landing</a:t>
            </a:r>
            <a:br>
              <a:rPr lang="en-IN" sz="2000" dirty="0"/>
            </a:br>
            <a:r>
              <a:rPr lang="en-IN" sz="2000" dirty="0"/>
              <a:t>SQLite / MySQL; weighted 0–100 risk score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/>
          </a:p>
          <a:p>
            <a:endParaRPr lang="en-IN" sz="2000" b="1" dirty="0"/>
          </a:p>
          <a:p>
            <a:endParaRPr lang="en-US" sz="20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6A54C3-24C1-CB34-2E4D-212B62B27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181" y="889792"/>
            <a:ext cx="6223820" cy="52794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81142"/>
            <a:ext cx="12191999" cy="4753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599440"/>
            <a:ext cx="10972800" cy="169481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98322"/>
            <a:ext cx="2443484" cy="8259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gency FB" panose="020B0503020202020204" pitchFamily="34" charset="0"/>
              </a:rPr>
              <a:t>BYTESENTINEL</a:t>
            </a:r>
            <a:endParaRPr lang="en-IN" sz="2400" b="1" dirty="0">
              <a:latin typeface="Agency FB" panose="020B0503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9" y="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0BFEBE-5287-0E85-1382-8DFAB94FC664}"/>
              </a:ext>
            </a:extLst>
          </p:cNvPr>
          <p:cNvSpPr txBox="1"/>
          <p:nvPr/>
        </p:nvSpPr>
        <p:spPr>
          <a:xfrm>
            <a:off x="5638800" y="296442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08BA55-E9B2-69D7-9B5F-6AEA35C6B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583408"/>
              </p:ext>
            </p:extLst>
          </p:nvPr>
        </p:nvGraphicFramePr>
        <p:xfrm>
          <a:off x="185195" y="1036046"/>
          <a:ext cx="11770832" cy="5253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0418">
                  <a:extLst>
                    <a:ext uri="{9D8B030D-6E8A-4147-A177-3AD203B41FA5}">
                      <a16:colId xmlns:a16="http://schemas.microsoft.com/office/drawing/2014/main" val="3428862227"/>
                    </a:ext>
                  </a:extLst>
                </a:gridCol>
                <a:gridCol w="3185652">
                  <a:extLst>
                    <a:ext uri="{9D8B030D-6E8A-4147-A177-3AD203B41FA5}">
                      <a16:colId xmlns:a16="http://schemas.microsoft.com/office/drawing/2014/main" val="3061318148"/>
                    </a:ext>
                  </a:extLst>
                </a:gridCol>
                <a:gridCol w="3785419">
                  <a:extLst>
                    <a:ext uri="{9D8B030D-6E8A-4147-A177-3AD203B41FA5}">
                      <a16:colId xmlns:a16="http://schemas.microsoft.com/office/drawing/2014/main" val="3266975280"/>
                    </a:ext>
                  </a:extLst>
                </a:gridCol>
                <a:gridCol w="2969343">
                  <a:extLst>
                    <a:ext uri="{9D8B030D-6E8A-4147-A177-3AD203B41FA5}">
                      <a16:colId xmlns:a16="http://schemas.microsoft.com/office/drawing/2014/main" val="2537775161"/>
                    </a:ext>
                  </a:extLst>
                </a:gridCol>
              </a:tblGrid>
              <a:tr h="452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Category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🟢 </a:t>
                      </a:r>
                      <a:r>
                        <a:rPr lang="en-IN" sz="2400" b="1" dirty="0"/>
                        <a:t>Feasible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🔴 </a:t>
                      </a:r>
                      <a:r>
                        <a:rPr lang="en-IN" sz="2400" b="1" dirty="0"/>
                        <a:t>Challenge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💡 </a:t>
                      </a:r>
                      <a:r>
                        <a:rPr lang="en-IN" sz="2400" b="1" dirty="0"/>
                        <a:t>Strategy</a:t>
                      </a:r>
                    </a:p>
                  </a:txBody>
                  <a:tcPr marL="85268" marR="85268" marT="42634" marB="42634" anchor="ctr"/>
                </a:tc>
                <a:extLst>
                  <a:ext uri="{0D108BD9-81ED-4DB2-BD59-A6C34878D82A}">
                    <a16:rowId xmlns:a16="http://schemas.microsoft.com/office/drawing/2014/main" val="333689167"/>
                  </a:ext>
                </a:extLst>
              </a:tr>
              <a:tr h="1218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⚙️ </a:t>
                      </a:r>
                      <a:r>
                        <a:rPr lang="en-IN" sz="2000" b="1" dirty="0"/>
                        <a:t>Technical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OCR + CV tools are mature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MRZ validation is standardized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• 35% </a:t>
                      </a:r>
                      <a:r>
                        <a:rPr lang="en-IN" sz="1700" dirty="0"/>
                        <a:t>of document fraud was digital forgery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Deepfakes are harder to detect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OCR + MRZ + forensics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Layered AI detection</a:t>
                      </a:r>
                    </a:p>
                  </a:txBody>
                  <a:tcPr marL="85268" marR="85268" marT="42634" marB="42634" anchor="ctr"/>
                </a:tc>
                <a:extLst>
                  <a:ext uri="{0D108BD9-81ED-4DB2-BD59-A6C34878D82A}">
                    <a16:rowId xmlns:a16="http://schemas.microsoft.com/office/drawing/2014/main" val="744242674"/>
                  </a:ext>
                </a:extLst>
              </a:tr>
              <a:tr h="113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💰 </a:t>
                      </a:r>
                      <a:r>
                        <a:rPr lang="en-IN" sz="2000" b="1" dirty="0"/>
                        <a:t>Financial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• Open-source tools reduce MVP cost </a:t>
                      </a:r>
                      <a:br>
                        <a:rPr lang="en-IN" sz="1700"/>
                      </a:br>
                      <a:r>
                        <a:rPr lang="en-IN" sz="1700"/>
                        <a:t>• Cloud enables pay-as-you-go scaling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Commercial IDV platforms already exist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AI models need continuous updates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Build low-cost MVP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Scale after validation</a:t>
                      </a:r>
                    </a:p>
                  </a:txBody>
                  <a:tcPr marL="85268" marR="85268" marT="42634" marB="42634" anchor="ctr"/>
                </a:tc>
                <a:extLst>
                  <a:ext uri="{0D108BD9-81ED-4DB2-BD59-A6C34878D82A}">
                    <a16:rowId xmlns:a16="http://schemas.microsoft.com/office/drawing/2014/main" val="1904410993"/>
                  </a:ext>
                </a:extLst>
              </a:tr>
              <a:tr h="1349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📊 </a:t>
                      </a:r>
                      <a:r>
                        <a:rPr lang="en-IN" sz="2000" b="1" dirty="0"/>
                        <a:t>Market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</a:t>
                      </a:r>
                      <a:r>
                        <a:rPr lang="en-IN" sz="1700" b="1" dirty="0"/>
                        <a:t>70+ Cr </a:t>
                      </a:r>
                      <a:r>
                        <a:rPr lang="en-IN" sz="1700" dirty="0" err="1"/>
                        <a:t>DigiLocker</a:t>
                      </a:r>
                      <a:r>
                        <a:rPr lang="en-IN" sz="1700" dirty="0"/>
                        <a:t> users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</a:t>
                      </a:r>
                      <a:r>
                        <a:rPr lang="en-IN" sz="1700" b="1" dirty="0"/>
                        <a:t>900+ Cr </a:t>
                      </a:r>
                      <a:r>
                        <a:rPr lang="en-IN" sz="1700" dirty="0"/>
                        <a:t>documents issued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</a:t>
                      </a:r>
                      <a:r>
                        <a:rPr lang="en-IN" sz="1700" b="1" dirty="0"/>
                        <a:t>46% </a:t>
                      </a:r>
                      <a:r>
                        <a:rPr lang="en-IN" sz="1700" dirty="0"/>
                        <a:t>of fraudulent submissions target National IDs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Trusted-source access may require authorization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India-first deployment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Integrate authorized sources</a:t>
                      </a:r>
                    </a:p>
                  </a:txBody>
                  <a:tcPr marL="85268" marR="85268" marT="42634" marB="42634" anchor="ctr"/>
                </a:tc>
                <a:extLst>
                  <a:ext uri="{0D108BD9-81ED-4DB2-BD59-A6C34878D82A}">
                    <a16:rowId xmlns:a16="http://schemas.microsoft.com/office/drawing/2014/main" val="1962134432"/>
                  </a:ext>
                </a:extLst>
              </a:tr>
              <a:tr h="1095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👮 </a:t>
                      </a:r>
                      <a:r>
                        <a:rPr lang="en-IN" sz="2000" b="1" dirty="0"/>
                        <a:t>Operational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Automated checks can run in seconds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Human review can be retained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</a:t>
                      </a:r>
                      <a:r>
                        <a:rPr lang="en-IN" sz="1700" b="1" dirty="0"/>
                        <a:t>1 in 5 </a:t>
                      </a:r>
                      <a:r>
                        <a:rPr lang="en-IN" sz="1700" dirty="0"/>
                        <a:t>biometric fraud attempts involve deepfakes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False positives remain possible</a:t>
                      </a:r>
                    </a:p>
                  </a:txBody>
                  <a:tcPr marL="85268" marR="85268" marT="42634" marB="426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Risk-based thresholds </a:t>
                      </a:r>
                      <a:br>
                        <a:rPr lang="en-IN" sz="1700" dirty="0"/>
                      </a:br>
                      <a:r>
                        <a:rPr lang="en-IN" sz="1700" dirty="0"/>
                        <a:t>• Human-in-the-loop</a:t>
                      </a:r>
                    </a:p>
                  </a:txBody>
                  <a:tcPr marL="85268" marR="85268" marT="42634" marB="42634" anchor="ctr"/>
                </a:tc>
                <a:extLst>
                  <a:ext uri="{0D108BD9-81ED-4DB2-BD59-A6C34878D82A}">
                    <a16:rowId xmlns:a16="http://schemas.microsoft.com/office/drawing/2014/main" val="139682742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3237" y="99570"/>
            <a:ext cx="23844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gency FB" panose="020B0503020202020204" pitchFamily="34" charset="0"/>
              </a:rPr>
              <a:t>BYTESENTINEL</a:t>
            </a:r>
            <a:endParaRPr lang="en-IN" sz="2400" b="1" dirty="0">
              <a:latin typeface="Agency FB" panose="020B0503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C5C7E8B-083A-372B-8DC3-053560D6A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259449"/>
              </p:ext>
            </p:extLst>
          </p:nvPr>
        </p:nvGraphicFramePr>
        <p:xfrm>
          <a:off x="403123" y="1054100"/>
          <a:ext cx="11100619" cy="4685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5548">
                  <a:extLst>
                    <a:ext uri="{9D8B030D-6E8A-4147-A177-3AD203B41FA5}">
                      <a16:colId xmlns:a16="http://schemas.microsoft.com/office/drawing/2014/main" val="3235629044"/>
                    </a:ext>
                  </a:extLst>
                </a:gridCol>
                <a:gridCol w="4021393">
                  <a:extLst>
                    <a:ext uri="{9D8B030D-6E8A-4147-A177-3AD203B41FA5}">
                      <a16:colId xmlns:a16="http://schemas.microsoft.com/office/drawing/2014/main" val="219825936"/>
                    </a:ext>
                  </a:extLst>
                </a:gridCol>
                <a:gridCol w="4473678">
                  <a:extLst>
                    <a:ext uri="{9D8B030D-6E8A-4147-A177-3AD203B41FA5}">
                      <a16:colId xmlns:a16="http://schemas.microsoft.com/office/drawing/2014/main" val="3793307579"/>
                    </a:ext>
                  </a:extLst>
                </a:gridCol>
              </a:tblGrid>
              <a:tr h="402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Impact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Indian Data /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Benefits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828819"/>
                  </a:ext>
                </a:extLst>
              </a:tr>
              <a:tr h="703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💰 </a:t>
                      </a:r>
                      <a:r>
                        <a:rPr lang="en-IN" b="1" dirty="0"/>
                        <a:t>Financial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₹11,158+ Cr fraud amount saved by I4C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Earlier detection → faster fraud intervention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146715"/>
                  </a:ext>
                </a:extLst>
              </a:tr>
              <a:tr h="764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⚡ </a:t>
                      </a:r>
                      <a:r>
                        <a:rPr lang="en-IN" b="1" dirty="0"/>
                        <a:t>Faster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19.36 Cr Aadhaar face-auth transactions/month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Quick, contactless identity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37479"/>
                  </a:ext>
                </a:extLst>
              </a:tr>
              <a:tr h="703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📄 </a:t>
                      </a:r>
                      <a:r>
                        <a:rPr lang="en-IN" b="1" dirty="0"/>
                        <a:t>Less Paperwork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39.47 Cr Aadhaar e-KYC transactions/month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verification → less manual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232787"/>
                  </a:ext>
                </a:extLst>
              </a:tr>
              <a:tr h="703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👮 </a:t>
                      </a:r>
                      <a:r>
                        <a:rPr lang="en-IN" b="1" dirty="0"/>
                        <a:t>Officer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32.80 lakh complaints handled by CFCFRMS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Risk-based screening → focus on high-risk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2208777"/>
                  </a:ext>
                </a:extLst>
              </a:tr>
              <a:tr h="703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🛡️ </a:t>
                      </a:r>
                      <a:r>
                        <a:rPr lang="en-IN" b="1" dirty="0"/>
                        <a:t>Trust &amp;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 Cr Aadhaar face-auth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identity verification at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65272"/>
                  </a:ext>
                </a:extLst>
              </a:tr>
              <a:tr h="703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📈 </a:t>
                      </a:r>
                      <a:r>
                        <a:rPr lang="en-IN" b="1" dirty="0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2,707 Cr Aadhaar authentications in FY 2024–25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Supports high-volume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22941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RESEARCH  AND REFERENCES</a:t>
            </a:r>
          </a:p>
        </p:txBody>
      </p:sp>
      <p:sp>
        <p:nvSpPr>
          <p:cNvPr id="17410" name="TextBox 8"/>
          <p:cNvSpPr txBox="1">
            <a:spLocks/>
          </p:cNvSpPr>
          <p:nvPr/>
        </p:nvSpPr>
        <p:spPr bwMode="auto">
          <a:xfrm>
            <a:off x="281651" y="1240463"/>
            <a:ext cx="1130074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noProof="0" dirty="0">
                <a:solidFill>
                  <a:prstClr val="black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Details / Links of the reference and research work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491" y="129001"/>
            <a:ext cx="2359742" cy="8472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gency FB" panose="020B0503020202020204" pitchFamily="34" charset="0"/>
              </a:rPr>
              <a:t>BYTESENTINEL</a:t>
            </a:r>
            <a:endParaRPr lang="en-IN" sz="2400" b="1" dirty="0">
              <a:latin typeface="Agency FB" panose="020B0503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3A1D37-E385-2B58-C738-11BD6DE3C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101552"/>
              </p:ext>
            </p:extLst>
          </p:nvPr>
        </p:nvGraphicFramePr>
        <p:xfrm>
          <a:off x="609600" y="1827688"/>
          <a:ext cx="10972800" cy="39748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7497">
                  <a:extLst>
                    <a:ext uri="{9D8B030D-6E8A-4147-A177-3AD203B41FA5}">
                      <a16:colId xmlns:a16="http://schemas.microsoft.com/office/drawing/2014/main" val="1559415996"/>
                    </a:ext>
                  </a:extLst>
                </a:gridCol>
                <a:gridCol w="4237703">
                  <a:extLst>
                    <a:ext uri="{9D8B030D-6E8A-4147-A177-3AD203B41FA5}">
                      <a16:colId xmlns:a16="http://schemas.microsoft.com/office/drawing/2014/main" val="169835387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7408766"/>
                    </a:ext>
                  </a:extLst>
                </a:gridCol>
              </a:tblGrid>
              <a:tr h="50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55182"/>
                  </a:ext>
                </a:extLst>
              </a:tr>
              <a:tr h="577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Entrust Identity Fraud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Fraud, deepfake &amp; forgery 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prstClr val="black"/>
                          </a:solidFill>
                          <a:latin typeface="+mn-lt"/>
                          <a:cs typeface="Arial" pitchFamily="34" charset="0"/>
                          <a:hlinkClick r:id="rId4"/>
                        </a:rPr>
                        <a:t>Entrust Report</a:t>
                      </a:r>
                      <a:endParaRPr lang="en-US" sz="1800" dirty="0">
                        <a:solidFill>
                          <a:prstClr val="black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>
                        <a:buNone/>
                      </a:pPr>
                      <a:endParaRPr lang="en-IN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840726"/>
                  </a:ext>
                </a:extLst>
              </a:tr>
              <a:tr h="40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Research &amp; Markets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verification market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5"/>
                        </a:rPr>
                        <a:t>Research and Markets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084068"/>
                  </a:ext>
                </a:extLst>
              </a:tr>
              <a:tr h="40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Mordor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Identity verification market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6"/>
                        </a:rPr>
                        <a:t>Mordor Intelligence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371885"/>
                  </a:ext>
                </a:extLst>
              </a:tr>
              <a:tr h="40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PIB / MHA–I4C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Indian cyber-fraud &amp; Aadhaar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6"/>
                        </a:rPr>
                        <a:t>P</a:t>
                      </a:r>
                      <a:r>
                        <a:rPr lang="en-IN" dirty="0" err="1">
                          <a:hlinkClick r:id="rId6"/>
                        </a:rPr>
                        <a:t>ress</a:t>
                      </a:r>
                      <a:r>
                        <a:rPr lang="en-IN" dirty="0">
                          <a:hlinkClick r:id="rId6"/>
                        </a:rPr>
                        <a:t> India Release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480623"/>
                  </a:ext>
                </a:extLst>
              </a:tr>
              <a:tr h="40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DigiLocker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document usage 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7"/>
                        </a:rPr>
                        <a:t>D</a:t>
                      </a:r>
                      <a:r>
                        <a:rPr lang="en-IN" dirty="0" err="1">
                          <a:hlinkClick r:id="rId7"/>
                        </a:rPr>
                        <a:t>igiLocker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086417"/>
                  </a:ext>
                </a:extLst>
              </a:tr>
              <a:tr h="40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ICAO Doc 9303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MRZ &amp; document validation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8"/>
                        </a:rPr>
                        <a:t>I</a:t>
                      </a:r>
                      <a:r>
                        <a:rPr lang="en-IN" dirty="0">
                          <a:hlinkClick r:id="rId8"/>
                        </a:rPr>
                        <a:t>CAO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23168"/>
                  </a:ext>
                </a:extLst>
              </a:tr>
              <a:tr h="40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Face-morph detection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9"/>
                        </a:rPr>
                        <a:t>N</a:t>
                      </a:r>
                      <a:r>
                        <a:rPr lang="en-IN" dirty="0">
                          <a:hlinkClick r:id="rId9"/>
                        </a:rPr>
                        <a:t>IST 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150426"/>
                  </a:ext>
                </a:extLst>
              </a:tr>
              <a:tr h="40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Border document-fraud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10"/>
                        </a:rPr>
                        <a:t>F</a:t>
                      </a:r>
                      <a:r>
                        <a:rPr lang="en-IN" dirty="0" err="1">
                          <a:hlinkClick r:id="rId10"/>
                        </a:rPr>
                        <a:t>rontex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599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10194</TotalTime>
  <Words>623</Words>
  <Application>Microsoft Office PowerPoint</Application>
  <PresentationFormat>Widescreen</PresentationFormat>
  <Paragraphs>117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Agency FB</vt:lpstr>
      <vt:lpstr>Aparajita</vt:lpstr>
      <vt:lpstr>Arial</vt:lpstr>
      <vt:lpstr>Bauhaus 93</vt:lpstr>
      <vt:lpstr>Calibri</vt:lpstr>
      <vt:lpstr>Garamond</vt:lpstr>
      <vt:lpstr>Georgia</vt:lpstr>
      <vt:lpstr>Times New Roman</vt:lpstr>
      <vt:lpstr>TradeGothic</vt:lpstr>
      <vt:lpstr>Wingdings</vt:lpstr>
      <vt:lpstr>Office Theme</vt:lpstr>
      <vt:lpstr>SMART INDIA HACKATHON 2026</vt:lpstr>
      <vt:lpstr>          IDEA /APPROACH DETAILS</vt:lpstr>
      <vt:lpstr>TECHNICAL APPROACH</vt:lpstr>
      <vt:lpstr>FEASIBILITY AND VIABILITY</vt:lpstr>
      <vt:lpstr>IMPACT AND BENEFITS</vt:lpstr>
      <vt:lpstr> 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Anushka Yadav</cp:lastModifiedBy>
  <cp:revision>150</cp:revision>
  <cp:lastPrinted>2026-09-09T09:49:21Z</cp:lastPrinted>
  <dcterms:created xsi:type="dcterms:W3CDTF">2013-12-12T18:46:50Z</dcterms:created>
  <dcterms:modified xsi:type="dcterms:W3CDTF">2026-09-09T11:11:47Z</dcterms:modified>
  <cp:category/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